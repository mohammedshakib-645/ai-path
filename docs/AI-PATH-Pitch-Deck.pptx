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43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380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i-path-tutor.vercel.ap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hyperlink" Target="https://github.com/MohammedShakib-645/ai-pa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548640" y="8686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11833"/>
          </a:solidFill>
          <a:ln w="12700"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22D3EE"/>
                </a:solidFill>
              </a:rPr>
              <a:t>BUILD FAST WITH AI 2026</a:t>
            </a:r>
            <a:endParaRPr lang="en-US" sz="1000" dirty="0"/>
          </a:p>
        </p:txBody>
      </p:sp>
      <p:sp>
        <p:nvSpPr>
          <p:cNvPr id="6" name="A"/>
          <p:cNvSpPr txBox="1"/>
          <p:nvPr/>
        </p:nvSpPr>
        <p:spPr>
          <a:xfrm>
            <a:off x="548640" y="13716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</a:rPr>
              <a:t>AI-PATH</a:t>
            </a:r>
            <a:endParaRPr lang="en-US" sz="5800" dirty="0"/>
          </a:p>
        </p:txBody>
      </p:sp>
      <p:sp>
        <p:nvSpPr>
          <p:cNvPr id="7" name="A"/>
          <p:cNvSpPr txBox="1"/>
          <p:nvPr/>
        </p:nvSpPr>
        <p:spPr>
          <a:xfrm>
            <a:off x="54864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</a:rPr>
              <a:t>Your Personal AI Tutor</a:t>
            </a:r>
            <a:endParaRPr lang="en-US" sz="2200" dirty="0"/>
          </a:p>
        </p:txBody>
      </p:sp>
      <p:sp>
        <p:nvSpPr>
          <p:cNvPr id="8" name="A"/>
          <p:cNvSpPr txBox="1"/>
          <p:nvPr/>
        </p:nvSpPr>
        <p:spPr>
          <a:xfrm>
            <a:off x="548640" y="3017520"/>
            <a:ext cx="32537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An AI tutor that learns how YOU learn.</a:t>
            </a:r>
            <a:endParaRPr lang="en-US" sz="1600" dirty="0"/>
          </a:p>
        </p:txBody>
      </p:sp>
      <p:sp>
        <p:nvSpPr>
          <p:cNvPr id="9" name="A"/>
          <p:cNvSpPr txBox="1"/>
          <p:nvPr/>
        </p:nvSpPr>
        <p:spPr>
          <a:xfrm>
            <a:off x="548640" y="3543300"/>
            <a:ext cx="33147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5C8"/>
                </a:solidFill>
              </a:rPr>
              <a:t>It doesn’t just answer questions. It helps decide what you should learn next.</a:t>
            </a:r>
          </a:p>
          <a:p>
            <a:pPr marL="0" indent="0">
              <a:buNone/>
            </a:pPr>
            <a:endParaRPr lang="en-US" sz="1400" dirty="0">
              <a:solidFill>
                <a:srgbClr val="9AA5C8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A5C8"/>
                </a:solidFill>
              </a:rPr>
              <a:t>Build by: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AA5C8"/>
                </a:solidFill>
              </a:rPr>
              <a:t>Mohammed Shakib</a:t>
            </a:r>
            <a:endParaRPr lang="en-US" sz="1400" dirty="0"/>
          </a:p>
        </p:txBody>
      </p:sp>
      <p:sp>
        <p:nvSpPr>
          <p:cNvPr id="10" name="A"/>
          <p:cNvSpPr/>
          <p:nvPr/>
        </p:nvSpPr>
        <p:spPr>
          <a:xfrm>
            <a:off x="3995928" y="978408"/>
            <a:ext cx="4882896" cy="3616452"/>
          </a:xfrm>
          <a:prstGeom prst="roundRect">
            <a:avLst>
              <a:gd name="adj" fmla="val 2600"/>
            </a:avLst>
          </a:prstGeom>
          <a:solidFill>
            <a:srgbClr val="111833"/>
          </a:solidFill>
          <a:ln w="15875">
            <a:solidFill>
              <a:srgbClr val="6366F1"/>
            </a:solidFill>
            <a:prstDash val="solid"/>
          </a:ln>
          <a:effectLst>
            <a:outerShdw blurRad="228600" dist="38100" dir="5400000" algn="bl" rotWithShape="0">
              <a:srgbClr val="6366F1">
                <a:alpha val="50000"/>
              </a:srgbClr>
            </a:outerShdw>
          </a:effectLst>
        </p:spPr>
      </p:sp>
      <p:sp>
        <p:nvSpPr>
          <p:cNvPr id="11" name="A"/>
          <p:cNvSpPr txBox="1"/>
          <p:nvPr/>
        </p:nvSpPr>
        <p:spPr>
          <a:xfrm>
            <a:off x="4700016" y="978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5C8"/>
                </a:solidFill>
              </a:rPr>
              <a:t>● ● ●</a:t>
            </a:r>
            <a:endParaRPr lang="en-US" sz="700" dirty="0"/>
          </a:p>
        </p:txBody>
      </p:sp>
      <p:pic>
        <p:nvPicPr>
          <p:cNvPr id="12" name="A" descr="img/02-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222" y="1179576"/>
            <a:ext cx="4750307" cy="34152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Learning is fragmented.</a:t>
            </a:r>
            <a:endParaRPr lang="en-US" sz="2800" dirty="0"/>
          </a:p>
        </p:txBody>
      </p:sp>
      <p:sp>
        <p:nvSpPr>
          <p:cNvPr id="7" name="A"/>
          <p:cNvSpPr txBox="1"/>
          <p:nvPr/>
        </p:nvSpPr>
        <p:spPr>
          <a:xfrm>
            <a:off x="457200" y="164592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YouTube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→ Watch</a:t>
            </a:r>
            <a:endParaRPr lang="en-US" sz="1500" dirty="0"/>
          </a:p>
        </p:txBody>
      </p:sp>
      <p:sp>
        <p:nvSpPr>
          <p:cNvPr id="8" name="A"/>
          <p:cNvSpPr/>
          <p:nvPr/>
        </p:nvSpPr>
        <p:spPr>
          <a:xfrm>
            <a:off x="1938528" y="219456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9" name="A"/>
          <p:cNvSpPr txBox="1"/>
          <p:nvPr/>
        </p:nvSpPr>
        <p:spPr>
          <a:xfrm>
            <a:off x="2148840" y="164592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ChatGPT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→ Ask</a:t>
            </a:r>
            <a:endParaRPr lang="en-US" sz="1500" dirty="0"/>
          </a:p>
        </p:txBody>
      </p:sp>
      <p:sp>
        <p:nvSpPr>
          <p:cNvPr id="10" name="A"/>
          <p:cNvSpPr/>
          <p:nvPr/>
        </p:nvSpPr>
        <p:spPr>
          <a:xfrm>
            <a:off x="3630168" y="219456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1" name="A"/>
          <p:cNvSpPr txBox="1"/>
          <p:nvPr/>
        </p:nvSpPr>
        <p:spPr>
          <a:xfrm>
            <a:off x="3840480" y="164592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Coding platform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→ Practice</a:t>
            </a:r>
            <a:endParaRPr lang="en-US" sz="1500" dirty="0"/>
          </a:p>
        </p:txBody>
      </p:sp>
      <p:sp>
        <p:nvSpPr>
          <p:cNvPr id="12" name="A"/>
          <p:cNvSpPr/>
          <p:nvPr/>
        </p:nvSpPr>
        <p:spPr>
          <a:xfrm>
            <a:off x="5321808" y="219456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3" name="A"/>
          <p:cNvSpPr txBox="1"/>
          <p:nvPr/>
        </p:nvSpPr>
        <p:spPr>
          <a:xfrm>
            <a:off x="5532120" y="164592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Mock interview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→ Test</a:t>
            </a:r>
            <a:endParaRPr lang="en-US" sz="1500" dirty="0"/>
          </a:p>
        </p:txBody>
      </p:sp>
      <p:sp>
        <p:nvSpPr>
          <p:cNvPr id="14" name="A"/>
          <p:cNvSpPr/>
          <p:nvPr/>
        </p:nvSpPr>
        <p:spPr>
          <a:xfrm>
            <a:off x="7013448" y="219456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5" name="A"/>
          <p:cNvSpPr txBox="1"/>
          <p:nvPr/>
        </p:nvSpPr>
        <p:spPr>
          <a:xfrm>
            <a:off x="7223760" y="164592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Progress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</a:rPr>
              <a:t>→ Somewhere else</a:t>
            </a:r>
            <a:endParaRPr lang="en-US" sz="1500" dirty="0"/>
          </a:p>
        </p:txBody>
      </p:sp>
      <p:sp>
        <p:nvSpPr>
          <p:cNvPr id="16" name="A"/>
          <p:cNvSpPr txBox="1"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learner has to connect everything themselves.</a:t>
            </a:r>
            <a:endParaRPr lang="en-US" sz="2800" dirty="0"/>
          </a:p>
        </p:txBody>
      </p:sp>
      <p:sp>
        <p:nvSpPr>
          <p:cNvPr id="17" name="A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AA5C8"/>
                </a:solidFill>
              </a:rPr>
              <a:t>Five tools. No single picture of what to do next.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THE BIG IDEA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if your learning system adapted to YOU?</a:t>
            </a:r>
            <a:endParaRPr lang="en-US" sz="2800" dirty="0"/>
          </a:p>
        </p:txBody>
      </p:sp>
      <p:sp>
        <p:nvSpPr>
          <p:cNvPr id="7" name="A"/>
          <p:cNvSpPr txBox="1"/>
          <p:nvPr/>
        </p:nvSpPr>
        <p:spPr>
          <a:xfrm>
            <a:off x="457200" y="150876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GOAL</a:t>
            </a:r>
            <a:endParaRPr lang="en-US" sz="1100" dirty="0"/>
          </a:p>
        </p:txBody>
      </p:sp>
      <p:sp>
        <p:nvSpPr>
          <p:cNvPr id="8" name="A"/>
          <p:cNvSpPr txBox="1"/>
          <p:nvPr/>
        </p:nvSpPr>
        <p:spPr>
          <a:xfrm>
            <a:off x="1965960" y="1508760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</a:t>
            </a:r>
            <a:endParaRPr lang="en-US" sz="1100" dirty="0"/>
          </a:p>
        </p:txBody>
      </p:sp>
      <p:sp>
        <p:nvSpPr>
          <p:cNvPr id="9" name="A"/>
          <p:cNvSpPr txBox="1"/>
          <p:nvPr/>
        </p:nvSpPr>
        <p:spPr>
          <a:xfrm>
            <a:off x="457200" y="2075688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LANGUAGE</a:t>
            </a:r>
            <a:endParaRPr lang="en-US" sz="1100" dirty="0"/>
          </a:p>
        </p:txBody>
      </p:sp>
      <p:sp>
        <p:nvSpPr>
          <p:cNvPr id="10" name="A"/>
          <p:cNvSpPr txBox="1"/>
          <p:nvPr/>
        </p:nvSpPr>
        <p:spPr>
          <a:xfrm>
            <a:off x="1965960" y="2075688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 TIME</a:t>
            </a:r>
            <a:endParaRPr lang="en-US" sz="1100" dirty="0"/>
          </a:p>
        </p:txBody>
      </p:sp>
      <p:sp>
        <p:nvSpPr>
          <p:cNvPr id="11" name="A"/>
          <p:cNvSpPr txBox="1"/>
          <p:nvPr/>
        </p:nvSpPr>
        <p:spPr>
          <a:xfrm>
            <a:off x="457200" y="26426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PROGRESS</a:t>
            </a:r>
            <a:endParaRPr lang="en-US" sz="1100" dirty="0"/>
          </a:p>
        </p:txBody>
      </p:sp>
      <p:sp>
        <p:nvSpPr>
          <p:cNvPr id="12" name="A"/>
          <p:cNvSpPr txBox="1"/>
          <p:nvPr/>
        </p:nvSpPr>
        <p:spPr>
          <a:xfrm>
            <a:off x="1965960" y="26426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MISTAKES</a:t>
            </a:r>
            <a:endParaRPr lang="en-US" sz="1100" dirty="0"/>
          </a:p>
        </p:txBody>
      </p:sp>
      <p:sp>
        <p:nvSpPr>
          <p:cNvPr id="13" name="A"/>
          <p:cNvSpPr/>
          <p:nvPr/>
        </p:nvSpPr>
        <p:spPr>
          <a:xfrm>
            <a:off x="3520440" y="2331720"/>
            <a:ext cx="594360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4" name="A"/>
          <p:cNvSpPr txBox="1"/>
          <p:nvPr/>
        </p:nvSpPr>
        <p:spPr>
          <a:xfrm>
            <a:off x="4206240" y="1828800"/>
            <a:ext cx="1737360" cy="1005840"/>
          </a:xfrm>
          <a:prstGeom prst="roundRect">
            <a:avLst>
              <a:gd name="adj" fmla="val 13636"/>
            </a:avLst>
          </a:prstGeom>
          <a:solidFill>
            <a:srgbClr val="6366F1"/>
          </a:solidFill>
          <a:ln/>
          <a:effectLst>
            <a:outerShdw blurRad="254000" dist="25400" dir="5400000" algn="bl" rotWithShape="0">
              <a:srgbClr val="6366F1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AI-PATH</a:t>
            </a:r>
            <a:endParaRPr lang="en-US" sz="2200" dirty="0"/>
          </a:p>
        </p:txBody>
      </p:sp>
      <p:sp>
        <p:nvSpPr>
          <p:cNvPr id="15" name="A"/>
          <p:cNvSpPr/>
          <p:nvPr/>
        </p:nvSpPr>
        <p:spPr>
          <a:xfrm>
            <a:off x="5989320" y="2331720"/>
            <a:ext cx="594360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6" name="A"/>
          <p:cNvSpPr txBox="1"/>
          <p:nvPr/>
        </p:nvSpPr>
        <p:spPr>
          <a:xfrm>
            <a:off x="6675120" y="18288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111833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PERSONALIZED LEARNING</a:t>
            </a:r>
            <a:endParaRPr lang="en-US" sz="1500" dirty="0"/>
          </a:p>
        </p:txBody>
      </p:sp>
      <p:sp>
        <p:nvSpPr>
          <p:cNvPr id="17" name="A"/>
          <p:cNvSpPr txBox="1"/>
          <p:nvPr/>
        </p:nvSpPr>
        <p:spPr>
          <a:xfrm>
            <a:off x="457200" y="36576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</a:t>
            </a:r>
            <a:endParaRPr lang="en-US" sz="1500" dirty="0"/>
          </a:p>
        </p:txBody>
      </p:sp>
      <p:sp>
        <p:nvSpPr>
          <p:cNvPr id="18" name="A"/>
          <p:cNvSpPr/>
          <p:nvPr/>
        </p:nvSpPr>
        <p:spPr>
          <a:xfrm>
            <a:off x="1938528" y="3904488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9" name="A"/>
          <p:cNvSpPr txBox="1"/>
          <p:nvPr/>
        </p:nvSpPr>
        <p:spPr>
          <a:xfrm>
            <a:off x="2148840" y="36576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Practice</a:t>
            </a:r>
            <a:endParaRPr lang="en-US" sz="1500" dirty="0"/>
          </a:p>
        </p:txBody>
      </p:sp>
      <p:sp>
        <p:nvSpPr>
          <p:cNvPr id="20" name="A"/>
          <p:cNvSpPr/>
          <p:nvPr/>
        </p:nvSpPr>
        <p:spPr>
          <a:xfrm>
            <a:off x="3630168" y="3904488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21" name="A"/>
          <p:cNvSpPr txBox="1"/>
          <p:nvPr/>
        </p:nvSpPr>
        <p:spPr>
          <a:xfrm>
            <a:off x="3840480" y="36576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</a:t>
            </a:r>
            <a:endParaRPr lang="en-US" sz="1500" dirty="0"/>
          </a:p>
        </p:txBody>
      </p:sp>
      <p:sp>
        <p:nvSpPr>
          <p:cNvPr id="22" name="A"/>
          <p:cNvSpPr/>
          <p:nvPr/>
        </p:nvSpPr>
        <p:spPr>
          <a:xfrm>
            <a:off x="5321808" y="3904488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23" name="A"/>
          <p:cNvSpPr txBox="1"/>
          <p:nvPr/>
        </p:nvSpPr>
        <p:spPr>
          <a:xfrm>
            <a:off x="5532120" y="36576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Analyze</a:t>
            </a:r>
            <a:endParaRPr lang="en-US" sz="1500" dirty="0"/>
          </a:p>
        </p:txBody>
      </p:sp>
      <p:sp>
        <p:nvSpPr>
          <p:cNvPr id="24" name="A"/>
          <p:cNvSpPr/>
          <p:nvPr/>
        </p:nvSpPr>
        <p:spPr>
          <a:xfrm>
            <a:off x="7013448" y="3904488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25" name="A"/>
          <p:cNvSpPr txBox="1"/>
          <p:nvPr/>
        </p:nvSpPr>
        <p:spPr>
          <a:xfrm>
            <a:off x="7223760" y="365760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2D3EE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0B1F"/>
                </a:solidFill>
              </a:rPr>
              <a:t>Adapt</a:t>
            </a:r>
            <a:endParaRPr lang="en-US" sz="15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09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PERSONALIZATION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Your learning path is generated around you.</a:t>
            </a:r>
            <a:endParaRPr lang="en-US" sz="2800" dirty="0"/>
          </a:p>
        </p:txBody>
      </p:sp>
      <p:sp>
        <p:nvSpPr>
          <p:cNvPr id="7" name="A"/>
          <p:cNvSpPr txBox="1"/>
          <p:nvPr/>
        </p:nvSpPr>
        <p:spPr>
          <a:xfrm>
            <a:off x="457200" y="1508760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Goal</a:t>
            </a:r>
            <a:endParaRPr lang="en-US" sz="1500" dirty="0"/>
          </a:p>
        </p:txBody>
      </p:sp>
      <p:sp>
        <p:nvSpPr>
          <p:cNvPr id="8" name="A"/>
          <p:cNvSpPr txBox="1"/>
          <p:nvPr/>
        </p:nvSpPr>
        <p:spPr>
          <a:xfrm>
            <a:off x="457200" y="2221992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Level</a:t>
            </a:r>
            <a:endParaRPr lang="en-US" sz="1500" dirty="0"/>
          </a:p>
        </p:txBody>
      </p:sp>
      <p:sp>
        <p:nvSpPr>
          <p:cNvPr id="9" name="A"/>
          <p:cNvSpPr txBox="1"/>
          <p:nvPr/>
        </p:nvSpPr>
        <p:spPr>
          <a:xfrm>
            <a:off x="457200" y="2935224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Language</a:t>
            </a:r>
            <a:endParaRPr lang="en-US" sz="1500" dirty="0"/>
          </a:p>
        </p:txBody>
      </p:sp>
      <p:sp>
        <p:nvSpPr>
          <p:cNvPr id="10" name="A"/>
          <p:cNvSpPr txBox="1"/>
          <p:nvPr/>
        </p:nvSpPr>
        <p:spPr>
          <a:xfrm>
            <a:off x="457200" y="3648456"/>
            <a:ext cx="2194560" cy="548640"/>
          </a:xfrm>
          <a:prstGeom prst="roundRect">
            <a:avLst>
              <a:gd name="adj" fmla="val 16667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Daily time</a:t>
            </a:r>
            <a:endParaRPr lang="en-US" sz="1500" dirty="0"/>
          </a:p>
        </p:txBody>
      </p:sp>
      <p:sp>
        <p:nvSpPr>
          <p:cNvPr id="11" name="A"/>
          <p:cNvSpPr/>
          <p:nvPr/>
        </p:nvSpPr>
        <p:spPr>
          <a:xfrm>
            <a:off x="2743200" y="2651760"/>
            <a:ext cx="731520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2" name="A"/>
          <p:cNvSpPr/>
          <p:nvPr/>
        </p:nvSpPr>
        <p:spPr>
          <a:xfrm>
            <a:off x="3657600" y="1371600"/>
            <a:ext cx="5029200" cy="3516453"/>
          </a:xfrm>
          <a:prstGeom prst="roundRect">
            <a:avLst>
              <a:gd name="adj" fmla="val 2600"/>
            </a:avLst>
          </a:prstGeom>
          <a:solidFill>
            <a:srgbClr val="111833"/>
          </a:solidFill>
          <a:ln w="15875">
            <a:solidFill>
              <a:srgbClr val="6366F1"/>
            </a:solidFill>
            <a:prstDash val="solid"/>
          </a:ln>
          <a:effectLst>
            <a:outerShdw blurRad="228600" dist="38100" dir="5400000" algn="bl" rotWithShape="0">
              <a:srgbClr val="6366F1">
                <a:alpha val="50000"/>
              </a:srgbClr>
            </a:outerShdw>
          </a:effectLst>
        </p:spPr>
      </p:sp>
      <p:sp>
        <p:nvSpPr>
          <p:cNvPr id="13" name="A"/>
          <p:cNvSpPr txBox="1"/>
          <p:nvPr/>
        </p:nvSpPr>
        <p:spPr>
          <a:xfrm>
            <a:off x="3785616" y="14356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5C8"/>
                </a:solidFill>
              </a:rPr>
              <a:t>● ● ●</a:t>
            </a:r>
            <a:endParaRPr lang="en-US" sz="700" dirty="0"/>
          </a:p>
        </p:txBody>
      </p:sp>
      <p:pic>
        <p:nvPicPr>
          <p:cNvPr id="14" name="A" descr="img/01-onboar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752" y="1645920"/>
            <a:ext cx="4882896" cy="3187269"/>
          </a:xfrm>
          <a:prstGeom prst="rect">
            <a:avLst/>
          </a:prstGeom>
        </p:spPr>
      </p:pic>
      <p:sp>
        <p:nvSpPr>
          <p:cNvPr id="15" name="A"/>
          <p:cNvSpPr txBox="1"/>
          <p:nvPr/>
        </p:nvSpPr>
        <p:spPr>
          <a:xfrm>
            <a:off x="4206240" y="4434840"/>
            <a:ext cx="3931920" cy="365760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Personalized 12-unit learning path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AI TUTOR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tutor that knows your context.</a:t>
            </a:r>
            <a:endParaRPr lang="en-US" sz="2800" dirty="0"/>
          </a:p>
        </p:txBody>
      </p:sp>
      <p:sp>
        <p:nvSpPr>
          <p:cNvPr id="7" name="A"/>
          <p:cNvSpPr/>
          <p:nvPr/>
        </p:nvSpPr>
        <p:spPr>
          <a:xfrm>
            <a:off x="457200" y="1188720"/>
            <a:ext cx="5303520" cy="3695513"/>
          </a:xfrm>
          <a:prstGeom prst="roundRect">
            <a:avLst>
              <a:gd name="adj" fmla="val 2474"/>
            </a:avLst>
          </a:prstGeom>
          <a:solidFill>
            <a:srgbClr val="111833"/>
          </a:solidFill>
          <a:ln w="15875">
            <a:solidFill>
              <a:srgbClr val="6366F1"/>
            </a:solidFill>
            <a:prstDash val="solid"/>
          </a:ln>
          <a:effectLst>
            <a:outerShdw blurRad="228600" dist="38100" dir="5400000" algn="bl" rotWithShape="0">
              <a:srgbClr val="6366F1">
                <a:alpha val="50000"/>
              </a:srgbClr>
            </a:outerShdw>
          </a:effectLst>
        </p:spPr>
      </p:sp>
      <p:sp>
        <p:nvSpPr>
          <p:cNvPr id="8" name="A"/>
          <p:cNvSpPr txBox="1"/>
          <p:nvPr/>
        </p:nvSpPr>
        <p:spPr>
          <a:xfrm>
            <a:off x="585216" y="12527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5C8"/>
                </a:solidFill>
              </a:rPr>
              <a:t>● ● ●</a:t>
            </a:r>
            <a:endParaRPr lang="en-US" sz="700" dirty="0"/>
          </a:p>
        </p:txBody>
      </p:sp>
      <p:pic>
        <p:nvPicPr>
          <p:cNvPr id="9" name="A" descr="img/05-ai-tu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63040"/>
            <a:ext cx="5157216" cy="3366329"/>
          </a:xfrm>
          <a:prstGeom prst="rect">
            <a:avLst/>
          </a:prstGeom>
        </p:spPr>
      </p:pic>
      <p:sp>
        <p:nvSpPr>
          <p:cNvPr id="10" name="A"/>
          <p:cNvSpPr txBox="1"/>
          <p:nvPr/>
        </p:nvSpPr>
        <p:spPr>
          <a:xfrm>
            <a:off x="6035040" y="123444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INSIDE THE TUTOR</a:t>
            </a:r>
            <a:endParaRPr lang="en-US" sz="1100" dirty="0"/>
          </a:p>
        </p:txBody>
      </p:sp>
      <p:sp>
        <p:nvSpPr>
          <p:cNvPr id="11" name="A"/>
          <p:cNvSpPr txBox="1"/>
          <p:nvPr/>
        </p:nvSpPr>
        <p:spPr>
          <a:xfrm>
            <a:off x="6035040" y="160020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Explain</a:t>
            </a:r>
            <a:endParaRPr lang="en-US" sz="1100" dirty="0"/>
          </a:p>
        </p:txBody>
      </p:sp>
      <p:sp>
        <p:nvSpPr>
          <p:cNvPr id="12" name="A"/>
          <p:cNvSpPr txBox="1"/>
          <p:nvPr/>
        </p:nvSpPr>
        <p:spPr>
          <a:xfrm>
            <a:off x="7406640" y="1600200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Teach Me</a:t>
            </a:r>
            <a:endParaRPr lang="en-US" sz="1100" dirty="0"/>
          </a:p>
        </p:txBody>
      </p:sp>
      <p:sp>
        <p:nvSpPr>
          <p:cNvPr id="13" name="A"/>
          <p:cNvSpPr txBox="1"/>
          <p:nvPr/>
        </p:nvSpPr>
        <p:spPr>
          <a:xfrm>
            <a:off x="6035040" y="207568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Debug Code</a:t>
            </a:r>
            <a:endParaRPr lang="en-US" sz="1100" dirty="0"/>
          </a:p>
        </p:txBody>
      </p:sp>
      <p:sp>
        <p:nvSpPr>
          <p:cNvPr id="14" name="A"/>
          <p:cNvSpPr txBox="1"/>
          <p:nvPr/>
        </p:nvSpPr>
        <p:spPr>
          <a:xfrm>
            <a:off x="7406640" y="2075688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Review</a:t>
            </a:r>
            <a:endParaRPr lang="en-US" sz="1100" dirty="0"/>
          </a:p>
        </p:txBody>
      </p:sp>
      <p:sp>
        <p:nvSpPr>
          <p:cNvPr id="15" name="A"/>
          <p:cNvSpPr txBox="1"/>
          <p:nvPr/>
        </p:nvSpPr>
        <p:spPr>
          <a:xfrm>
            <a:off x="6035040" y="255117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 Prep</a:t>
            </a:r>
            <a:endParaRPr lang="en-US" sz="1100" dirty="0"/>
          </a:p>
        </p:txBody>
      </p:sp>
      <p:sp>
        <p:nvSpPr>
          <p:cNvPr id="16" name="A"/>
          <p:cNvSpPr txBox="1"/>
          <p:nvPr/>
        </p:nvSpPr>
        <p:spPr>
          <a:xfrm>
            <a:off x="7406640" y="2551176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Mentor</a:t>
            </a:r>
            <a:endParaRPr lang="en-US" sz="1100" dirty="0"/>
          </a:p>
        </p:txBody>
      </p:sp>
      <p:sp>
        <p:nvSpPr>
          <p:cNvPr id="17" name="A"/>
          <p:cNvSpPr txBox="1"/>
          <p:nvPr/>
        </p:nvSpPr>
        <p:spPr>
          <a:xfrm>
            <a:off x="6035040" y="3026664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Image / PDF</a:t>
            </a:r>
            <a:endParaRPr lang="en-US" sz="1100" dirty="0"/>
          </a:p>
        </p:txBody>
      </p:sp>
      <p:sp>
        <p:nvSpPr>
          <p:cNvPr id="18" name="A"/>
          <p:cNvSpPr txBox="1"/>
          <p:nvPr/>
        </p:nvSpPr>
        <p:spPr>
          <a:xfrm>
            <a:off x="7406640" y="3026664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Run Python</a:t>
            </a:r>
            <a:endParaRPr lang="en-US" sz="1100" dirty="0"/>
          </a:p>
        </p:txBody>
      </p:sp>
      <p:sp>
        <p:nvSpPr>
          <p:cNvPr id="19" name="A"/>
          <p:cNvSpPr txBox="1"/>
          <p:nvPr/>
        </p:nvSpPr>
        <p:spPr>
          <a:xfrm>
            <a:off x="6035040" y="350215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Follow-ups</a:t>
            </a:r>
            <a:endParaRPr lang="en-US" sz="1100" dirty="0"/>
          </a:p>
        </p:txBody>
      </p:sp>
      <p:sp>
        <p:nvSpPr>
          <p:cNvPr id="20" name="A"/>
          <p:cNvSpPr txBox="1"/>
          <p:nvPr/>
        </p:nvSpPr>
        <p:spPr>
          <a:xfrm>
            <a:off x="7406640" y="3502152"/>
            <a:ext cx="1280160" cy="384048"/>
          </a:xfrm>
          <a:prstGeom prst="roundRect">
            <a:avLst>
              <a:gd name="adj" fmla="val 23810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Chat history</a:t>
            </a:r>
            <a:endParaRPr lang="en-US" sz="1100" dirty="0"/>
          </a:p>
        </p:txBody>
      </p:sp>
      <p:sp>
        <p:nvSpPr>
          <p:cNvPr id="21" name="A"/>
          <p:cNvSpPr txBox="1"/>
          <p:nvPr/>
        </p:nvSpPr>
        <p:spPr>
          <a:xfrm>
            <a:off x="603504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5C8"/>
                </a:solidFill>
              </a:rPr>
              <a:t>Every reply is seeded with your level, weak topics and history.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CORE DIFFERENTIATOR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AI-PATH learns from your mistakes.</a:t>
            </a:r>
            <a:endParaRPr lang="en-US" sz="2800" dirty="0"/>
          </a:p>
        </p:txBody>
      </p:sp>
      <p:sp>
        <p:nvSpPr>
          <p:cNvPr id="7" name="A"/>
          <p:cNvSpPr txBox="1"/>
          <p:nvPr/>
        </p:nvSpPr>
        <p:spPr>
          <a:xfrm>
            <a:off x="457200" y="14630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833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makes a mistake</a:t>
            </a:r>
            <a:endParaRPr lang="en-US" sz="1300" dirty="0"/>
          </a:p>
        </p:txBody>
      </p:sp>
      <p:sp>
        <p:nvSpPr>
          <p:cNvPr id="8" name="A"/>
          <p:cNvSpPr/>
          <p:nvPr/>
        </p:nvSpPr>
        <p:spPr>
          <a:xfrm>
            <a:off x="2313432" y="1892808"/>
            <a:ext cx="256032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9" name="A"/>
          <p:cNvSpPr txBox="1"/>
          <p:nvPr/>
        </p:nvSpPr>
        <p:spPr>
          <a:xfrm>
            <a:off x="2606040" y="14630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analyzes the mistake</a:t>
            </a:r>
            <a:endParaRPr lang="en-US" sz="1300" dirty="0"/>
          </a:p>
        </p:txBody>
      </p:sp>
      <p:sp>
        <p:nvSpPr>
          <p:cNvPr id="10" name="A"/>
          <p:cNvSpPr/>
          <p:nvPr/>
        </p:nvSpPr>
        <p:spPr>
          <a:xfrm>
            <a:off x="4462272" y="1892808"/>
            <a:ext cx="256032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1" name="A"/>
          <p:cNvSpPr txBox="1"/>
          <p:nvPr/>
        </p:nvSpPr>
        <p:spPr>
          <a:xfrm>
            <a:off x="4754880" y="14630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Weak topic identified</a:t>
            </a:r>
            <a:endParaRPr lang="en-US" sz="1300" dirty="0"/>
          </a:p>
        </p:txBody>
      </p:sp>
      <p:sp>
        <p:nvSpPr>
          <p:cNvPr id="12" name="A"/>
          <p:cNvSpPr/>
          <p:nvPr/>
        </p:nvSpPr>
        <p:spPr>
          <a:xfrm>
            <a:off x="6611112" y="1892808"/>
            <a:ext cx="256032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3" name="A"/>
          <p:cNvSpPr txBox="1"/>
          <p:nvPr/>
        </p:nvSpPr>
        <p:spPr>
          <a:xfrm>
            <a:off x="6903720" y="146304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Dashboard reflects the weakness</a:t>
            </a:r>
            <a:endParaRPr lang="en-US" sz="1300" dirty="0"/>
          </a:p>
        </p:txBody>
      </p:sp>
      <p:sp>
        <p:nvSpPr>
          <p:cNvPr id="14" name="A"/>
          <p:cNvSpPr/>
          <p:nvPr/>
        </p:nvSpPr>
        <p:spPr>
          <a:xfrm>
            <a:off x="7818120" y="2359152"/>
            <a:ext cx="0" cy="566928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5" name="A"/>
          <p:cNvSpPr txBox="1"/>
          <p:nvPr/>
        </p:nvSpPr>
        <p:spPr>
          <a:xfrm>
            <a:off x="6903720" y="297180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Targeted practice</a:t>
            </a:r>
            <a:endParaRPr lang="en-US" sz="1300" dirty="0"/>
          </a:p>
        </p:txBody>
      </p:sp>
      <p:sp>
        <p:nvSpPr>
          <p:cNvPr id="16" name="A"/>
          <p:cNvSpPr/>
          <p:nvPr/>
        </p:nvSpPr>
        <p:spPr>
          <a:xfrm flipH="1">
            <a:off x="6867144" y="3401568"/>
            <a:ext cx="256032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7" name="A"/>
          <p:cNvSpPr txBox="1"/>
          <p:nvPr/>
        </p:nvSpPr>
        <p:spPr>
          <a:xfrm>
            <a:off x="4754880" y="297180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tries again</a:t>
            </a:r>
            <a:endParaRPr lang="en-US" sz="1300" dirty="0"/>
          </a:p>
        </p:txBody>
      </p:sp>
      <p:sp>
        <p:nvSpPr>
          <p:cNvPr id="18" name="A"/>
          <p:cNvSpPr/>
          <p:nvPr/>
        </p:nvSpPr>
        <p:spPr>
          <a:xfrm flipH="1">
            <a:off x="4718304" y="3401568"/>
            <a:ext cx="256032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9" name="A"/>
          <p:cNvSpPr txBox="1"/>
          <p:nvPr/>
        </p:nvSpPr>
        <p:spPr>
          <a:xfrm>
            <a:off x="2606040" y="297180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Progress changes</a:t>
            </a:r>
            <a:endParaRPr lang="en-US" sz="1300" dirty="0"/>
          </a:p>
        </p:txBody>
      </p:sp>
      <p:sp>
        <p:nvSpPr>
          <p:cNvPr id="20" name="A"/>
          <p:cNvSpPr/>
          <p:nvPr/>
        </p:nvSpPr>
        <p:spPr>
          <a:xfrm flipH="1">
            <a:off x="2569464" y="3401568"/>
            <a:ext cx="256032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21" name="A"/>
          <p:cNvSpPr txBox="1"/>
          <p:nvPr/>
        </p:nvSpPr>
        <p:spPr>
          <a:xfrm>
            <a:off x="457200" y="2971800"/>
            <a:ext cx="1828800" cy="868680"/>
          </a:xfrm>
          <a:prstGeom prst="roundRect">
            <a:avLst>
              <a:gd name="adj" fmla="val 10526"/>
            </a:avLst>
          </a:prstGeom>
          <a:solidFill>
            <a:srgbClr val="6366F1"/>
          </a:solidFill>
          <a:ln>
            <a:solidFill>
              <a:srgbClr val="6366F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 step updates</a:t>
            </a:r>
            <a:endParaRPr lang="en-US" sz="1300" dirty="0"/>
          </a:p>
        </p:txBody>
      </p:sp>
      <p:sp>
        <p:nvSpPr>
          <p:cNvPr id="22" name="A"/>
          <p:cNvSpPr/>
          <p:nvPr/>
        </p:nvSpPr>
        <p:spPr>
          <a:xfrm flipV="1">
            <a:off x="1371600" y="2377440"/>
            <a:ext cx="0" cy="566928"/>
          </a:xfrm>
          <a:prstGeom prst="line">
            <a:avLst/>
          </a:prstGeom>
          <a:noFill/>
          <a:ln w="2222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3" name="A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C8"/>
                </a:solidFill>
              </a:rPr>
              <a:t>↺  Built on real attempts and tracked mistakes — no fake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PRACTICE + QUIZZES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Don’t just learn. Prove it.</a:t>
            </a:r>
            <a:endParaRPr lang="en-US" sz="2800" dirty="0"/>
          </a:p>
        </p:txBody>
      </p:sp>
      <p:sp>
        <p:nvSpPr>
          <p:cNvPr id="7" name="A"/>
          <p:cNvSpPr/>
          <p:nvPr/>
        </p:nvSpPr>
        <p:spPr>
          <a:xfrm>
            <a:off x="457200" y="1234440"/>
            <a:ext cx="3931920" cy="2800213"/>
          </a:xfrm>
          <a:prstGeom prst="roundRect">
            <a:avLst>
              <a:gd name="adj" fmla="val 3265"/>
            </a:avLst>
          </a:prstGeom>
          <a:solidFill>
            <a:srgbClr val="111833"/>
          </a:solidFill>
          <a:ln w="15875">
            <a:solidFill>
              <a:srgbClr val="6366F1"/>
            </a:solidFill>
            <a:prstDash val="solid"/>
          </a:ln>
          <a:effectLst>
            <a:outerShdw blurRad="228600" dist="38100" dir="5400000" algn="bl" rotWithShape="0">
              <a:srgbClr val="6366F1">
                <a:alpha val="50000"/>
              </a:srgbClr>
            </a:outerShdw>
          </a:effectLst>
        </p:spPr>
      </p:sp>
      <p:sp>
        <p:nvSpPr>
          <p:cNvPr id="8" name="A"/>
          <p:cNvSpPr txBox="1"/>
          <p:nvPr/>
        </p:nvSpPr>
        <p:spPr>
          <a:xfrm>
            <a:off x="585216" y="12984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5C8"/>
                </a:solidFill>
              </a:rPr>
              <a:t>● ● ●</a:t>
            </a:r>
            <a:endParaRPr lang="en-US" sz="700" dirty="0"/>
          </a:p>
        </p:txBody>
      </p:sp>
      <p:pic>
        <p:nvPicPr>
          <p:cNvPr id="9" name="A" descr="img/07-pract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08760"/>
            <a:ext cx="3785616" cy="2471029"/>
          </a:xfrm>
          <a:prstGeom prst="rect">
            <a:avLst/>
          </a:prstGeom>
        </p:spPr>
      </p:pic>
      <p:sp>
        <p:nvSpPr>
          <p:cNvPr id="10" name="A"/>
          <p:cNvSpPr txBox="1"/>
          <p:nvPr/>
        </p:nvSpPr>
        <p:spPr>
          <a:xfrm>
            <a:off x="45720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PRACTICE   </a:t>
            </a:r>
            <a:r>
              <a:rPr lang="en-US" sz="1100" b="1" dirty="0">
                <a:solidFill>
                  <a:srgbClr val="FFFFFF"/>
                </a:solidFill>
              </a:rPr>
              <a:t>WRITE → RUN → FAIL → FIX → UNDERSTAND</a:t>
            </a:r>
            <a:endParaRPr lang="en-US" sz="1100" dirty="0"/>
          </a:p>
        </p:txBody>
      </p:sp>
      <p:sp>
        <p:nvSpPr>
          <p:cNvPr id="11" name="A"/>
          <p:cNvSpPr/>
          <p:nvPr/>
        </p:nvSpPr>
        <p:spPr>
          <a:xfrm>
            <a:off x="4754880" y="1234440"/>
            <a:ext cx="3931920" cy="2800213"/>
          </a:xfrm>
          <a:prstGeom prst="roundRect">
            <a:avLst>
              <a:gd name="adj" fmla="val 3265"/>
            </a:avLst>
          </a:prstGeom>
          <a:solidFill>
            <a:srgbClr val="111833"/>
          </a:solidFill>
          <a:ln w="15875">
            <a:solidFill>
              <a:srgbClr val="6366F1"/>
            </a:solidFill>
            <a:prstDash val="solid"/>
          </a:ln>
          <a:effectLst>
            <a:outerShdw blurRad="228600" dist="38100" dir="5400000" algn="bl" rotWithShape="0">
              <a:srgbClr val="6366F1">
                <a:alpha val="50000"/>
              </a:srgbClr>
            </a:outerShdw>
          </a:effectLst>
        </p:spPr>
      </p:sp>
      <p:sp>
        <p:nvSpPr>
          <p:cNvPr id="12" name="A"/>
          <p:cNvSpPr txBox="1"/>
          <p:nvPr/>
        </p:nvSpPr>
        <p:spPr>
          <a:xfrm>
            <a:off x="4882896" y="129844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5C8"/>
                </a:solidFill>
              </a:rPr>
              <a:t>● ● ●</a:t>
            </a:r>
            <a:endParaRPr lang="en-US" sz="700" dirty="0"/>
          </a:p>
        </p:txBody>
      </p:sp>
      <p:pic>
        <p:nvPicPr>
          <p:cNvPr id="13" name="A" descr="img/06-quizz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508760"/>
            <a:ext cx="3785616" cy="2471029"/>
          </a:xfrm>
          <a:prstGeom prst="rect">
            <a:avLst/>
          </a:prstGeom>
        </p:spPr>
      </p:pic>
      <p:sp>
        <p:nvSpPr>
          <p:cNvPr id="14" name="A"/>
          <p:cNvSpPr txBox="1"/>
          <p:nvPr/>
        </p:nvSpPr>
        <p:spPr>
          <a:xfrm>
            <a:off x="475488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QUIZ   </a:t>
            </a:r>
            <a:r>
              <a:rPr lang="en-US" sz="1100" b="1" dirty="0">
                <a:solidFill>
                  <a:srgbClr val="FFFFFF"/>
                </a:solidFill>
              </a:rPr>
              <a:t>ANSWER → ANALYZE → TRACK MISTAKES → REVISIT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AI INTERVIEW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learning → interview ready.</a:t>
            </a:r>
            <a:endParaRPr lang="en-US" sz="2800" dirty="0"/>
          </a:p>
        </p:txBody>
      </p:sp>
      <p:sp>
        <p:nvSpPr>
          <p:cNvPr id="7" name="A"/>
          <p:cNvSpPr/>
          <p:nvPr/>
        </p:nvSpPr>
        <p:spPr>
          <a:xfrm>
            <a:off x="457200" y="1280160"/>
            <a:ext cx="4846320" cy="3397080"/>
          </a:xfrm>
          <a:prstGeom prst="roundRect">
            <a:avLst>
              <a:gd name="adj" fmla="val 2692"/>
            </a:avLst>
          </a:prstGeom>
          <a:solidFill>
            <a:srgbClr val="111833"/>
          </a:solidFill>
          <a:ln w="15875">
            <a:solidFill>
              <a:srgbClr val="6366F1"/>
            </a:solidFill>
            <a:prstDash val="solid"/>
          </a:ln>
          <a:effectLst>
            <a:outerShdw blurRad="228600" dist="38100" dir="5400000" algn="bl" rotWithShape="0">
              <a:srgbClr val="6366F1">
                <a:alpha val="50000"/>
              </a:srgbClr>
            </a:outerShdw>
          </a:effectLst>
        </p:spPr>
      </p:sp>
      <p:sp>
        <p:nvSpPr>
          <p:cNvPr id="8" name="A"/>
          <p:cNvSpPr txBox="1"/>
          <p:nvPr/>
        </p:nvSpPr>
        <p:spPr>
          <a:xfrm>
            <a:off x="585216" y="1344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5C8"/>
                </a:solidFill>
              </a:rPr>
              <a:t>● ● ●</a:t>
            </a:r>
            <a:endParaRPr lang="en-US" sz="700" dirty="0"/>
          </a:p>
        </p:txBody>
      </p:sp>
      <p:pic>
        <p:nvPicPr>
          <p:cNvPr id="9" name="A" descr="img/15-int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54480"/>
            <a:ext cx="4700016" cy="3067896"/>
          </a:xfrm>
          <a:prstGeom prst="rect">
            <a:avLst/>
          </a:prstGeom>
        </p:spPr>
      </p:pic>
      <p:sp>
        <p:nvSpPr>
          <p:cNvPr id="10" name="A"/>
          <p:cNvSpPr txBox="1"/>
          <p:nvPr/>
        </p:nvSpPr>
        <p:spPr>
          <a:xfrm>
            <a:off x="5760720" y="1280160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asks · webcam room</a:t>
            </a:r>
            <a:endParaRPr lang="en-US" sz="1300" dirty="0"/>
          </a:p>
        </p:txBody>
      </p:sp>
      <p:sp>
        <p:nvSpPr>
          <p:cNvPr id="11" name="A"/>
          <p:cNvSpPr/>
          <p:nvPr/>
        </p:nvSpPr>
        <p:spPr>
          <a:xfrm>
            <a:off x="7223760" y="1764792"/>
            <a:ext cx="0" cy="18288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2" name="A"/>
          <p:cNvSpPr txBox="1"/>
          <p:nvPr/>
        </p:nvSpPr>
        <p:spPr>
          <a:xfrm>
            <a:off x="5760720" y="1956816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answers</a:t>
            </a:r>
            <a:endParaRPr lang="en-US" sz="1300" dirty="0"/>
          </a:p>
        </p:txBody>
      </p:sp>
      <p:sp>
        <p:nvSpPr>
          <p:cNvPr id="13" name="A"/>
          <p:cNvSpPr/>
          <p:nvPr/>
        </p:nvSpPr>
        <p:spPr>
          <a:xfrm>
            <a:off x="7223760" y="2441448"/>
            <a:ext cx="0" cy="18288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4" name="A"/>
          <p:cNvSpPr txBox="1"/>
          <p:nvPr/>
        </p:nvSpPr>
        <p:spPr>
          <a:xfrm>
            <a:off x="5760720" y="2633472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Voice or typed</a:t>
            </a:r>
            <a:endParaRPr lang="en-US" sz="1300" dirty="0"/>
          </a:p>
        </p:txBody>
      </p:sp>
      <p:sp>
        <p:nvSpPr>
          <p:cNvPr id="15" name="A"/>
          <p:cNvSpPr/>
          <p:nvPr/>
        </p:nvSpPr>
        <p:spPr>
          <a:xfrm>
            <a:off x="7223760" y="3118104"/>
            <a:ext cx="0" cy="18288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6" name="A"/>
          <p:cNvSpPr txBox="1"/>
          <p:nvPr/>
        </p:nvSpPr>
        <p:spPr>
          <a:xfrm>
            <a:off x="5760720" y="3310128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AI evaluates</a:t>
            </a:r>
            <a:endParaRPr lang="en-US" sz="1300" dirty="0"/>
          </a:p>
        </p:txBody>
      </p:sp>
      <p:sp>
        <p:nvSpPr>
          <p:cNvPr id="17" name="A"/>
          <p:cNvSpPr/>
          <p:nvPr/>
        </p:nvSpPr>
        <p:spPr>
          <a:xfrm>
            <a:off x="7223760" y="3794760"/>
            <a:ext cx="0" cy="18288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8" name="A"/>
          <p:cNvSpPr txBox="1"/>
          <p:nvPr/>
        </p:nvSpPr>
        <p:spPr>
          <a:xfrm>
            <a:off x="5760720" y="3986784"/>
            <a:ext cx="2926080" cy="475488"/>
          </a:xfrm>
          <a:prstGeom prst="roundRect">
            <a:avLst>
              <a:gd name="adj" fmla="val 19231"/>
            </a:avLst>
          </a:prstGeom>
          <a:solidFill>
            <a:srgbClr val="111833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Feedback + score, spoken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THE COMPLETE SYSTEM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One continuous learning loop.</a:t>
            </a:r>
            <a:endParaRPr lang="en-US" sz="2800" dirty="0"/>
          </a:p>
        </p:txBody>
      </p:sp>
      <p:sp>
        <p:nvSpPr>
          <p:cNvPr id="7" name="A"/>
          <p:cNvSpPr/>
          <p:nvPr/>
        </p:nvSpPr>
        <p:spPr>
          <a:xfrm>
            <a:off x="1188720" y="1188720"/>
            <a:ext cx="6766560" cy="3200400"/>
          </a:xfrm>
          <a:prstGeom prst="ellipse">
            <a:avLst/>
          </a:prstGeom>
          <a:solidFill>
            <a:srgbClr val="070B1F">
              <a:alpha val="0"/>
            </a:srgbClr>
          </a:solidFill>
          <a:ln w="19050">
            <a:solidFill>
              <a:srgbClr val="A78BFA"/>
            </a:solidFill>
            <a:prstDash val="dash"/>
          </a:ln>
        </p:spPr>
      </p:sp>
      <p:sp>
        <p:nvSpPr>
          <p:cNvPr id="8" name="A"/>
          <p:cNvSpPr txBox="1"/>
          <p:nvPr/>
        </p:nvSpPr>
        <p:spPr>
          <a:xfrm>
            <a:off x="3566160" y="2331720"/>
            <a:ext cx="2011680" cy="914400"/>
          </a:xfrm>
          <a:prstGeom prst="ellipse">
            <a:avLst/>
          </a:prstGeom>
          <a:solidFill>
            <a:srgbClr val="6366F1"/>
          </a:solidFill>
          <a:ln/>
          <a:effectLst>
            <a:outerShdw blurRad="279400" dist="25400" dir="5400000" algn="bl" rotWithShape="0">
              <a:srgbClr val="6366F1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ADAPT</a:t>
            </a:r>
            <a:endParaRPr lang="en-US" sz="2600" dirty="0"/>
          </a:p>
        </p:txBody>
      </p:sp>
      <p:sp>
        <p:nvSpPr>
          <p:cNvPr id="9" name="A"/>
          <p:cNvSpPr txBox="1"/>
          <p:nvPr/>
        </p:nvSpPr>
        <p:spPr>
          <a:xfrm>
            <a:off x="3840480" y="10058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 YOUR GOAL</a:t>
            </a:r>
            <a:endParaRPr lang="en-US" sz="1000" dirty="0"/>
          </a:p>
        </p:txBody>
      </p:sp>
      <p:sp>
        <p:nvSpPr>
          <p:cNvPr id="10" name="A"/>
          <p:cNvSpPr txBox="1"/>
          <p:nvPr/>
        </p:nvSpPr>
        <p:spPr>
          <a:xfrm>
            <a:off x="5829122" y="1311451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 PERSONALIZED PATH</a:t>
            </a:r>
            <a:endParaRPr lang="en-US" sz="1000" dirty="0"/>
          </a:p>
        </p:txBody>
      </p:sp>
      <p:sp>
        <p:nvSpPr>
          <p:cNvPr id="11" name="A"/>
          <p:cNvSpPr txBox="1"/>
          <p:nvPr/>
        </p:nvSpPr>
        <p:spPr>
          <a:xfrm>
            <a:off x="7058170" y="2111551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  LEARN</a:t>
            </a:r>
            <a:endParaRPr lang="en-US" sz="1000" dirty="0"/>
          </a:p>
        </p:txBody>
      </p:sp>
      <p:sp>
        <p:nvSpPr>
          <p:cNvPr id="12" name="A"/>
          <p:cNvSpPr txBox="1"/>
          <p:nvPr/>
        </p:nvSpPr>
        <p:spPr>
          <a:xfrm>
            <a:off x="7058170" y="3100529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 PRACTICE</a:t>
            </a:r>
            <a:endParaRPr lang="en-US" sz="1000" dirty="0"/>
          </a:p>
        </p:txBody>
      </p:sp>
      <p:sp>
        <p:nvSpPr>
          <p:cNvPr id="13" name="A"/>
          <p:cNvSpPr txBox="1"/>
          <p:nvPr/>
        </p:nvSpPr>
        <p:spPr>
          <a:xfrm>
            <a:off x="5829122" y="3900629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 QUIZ</a:t>
            </a:r>
            <a:endParaRPr lang="en-US" sz="1000" dirty="0"/>
          </a:p>
        </p:txBody>
      </p:sp>
      <p:sp>
        <p:nvSpPr>
          <p:cNvPr id="14" name="A"/>
          <p:cNvSpPr txBox="1"/>
          <p:nvPr/>
        </p:nvSpPr>
        <p:spPr>
          <a:xfrm>
            <a:off x="3840480" y="4206240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3B1D4F"/>
          </a:solidFill>
          <a:ln w="15875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  MISTAKE</a:t>
            </a:r>
            <a:endParaRPr lang="en-US" sz="1000" dirty="0"/>
          </a:p>
        </p:txBody>
      </p:sp>
      <p:sp>
        <p:nvSpPr>
          <p:cNvPr id="15" name="A"/>
          <p:cNvSpPr txBox="1"/>
          <p:nvPr/>
        </p:nvSpPr>
        <p:spPr>
          <a:xfrm>
            <a:off x="1851838" y="3900629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3B1D4F"/>
          </a:solidFill>
          <a:ln w="15875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  WEAK TOPIC</a:t>
            </a:r>
            <a:endParaRPr lang="en-US" sz="1000" dirty="0"/>
          </a:p>
        </p:txBody>
      </p:sp>
      <p:sp>
        <p:nvSpPr>
          <p:cNvPr id="16" name="A"/>
          <p:cNvSpPr txBox="1"/>
          <p:nvPr/>
        </p:nvSpPr>
        <p:spPr>
          <a:xfrm>
            <a:off x="622790" y="3100529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  TARGETED LEARNING</a:t>
            </a:r>
            <a:endParaRPr lang="en-US" sz="1000" dirty="0"/>
          </a:p>
        </p:txBody>
      </p:sp>
      <p:sp>
        <p:nvSpPr>
          <p:cNvPr id="17" name="A"/>
          <p:cNvSpPr txBox="1"/>
          <p:nvPr/>
        </p:nvSpPr>
        <p:spPr>
          <a:xfrm>
            <a:off x="622790" y="2111551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9  AI INTERVIEW</a:t>
            </a:r>
            <a:endParaRPr lang="en-US" sz="1000" dirty="0"/>
          </a:p>
        </p:txBody>
      </p:sp>
      <p:sp>
        <p:nvSpPr>
          <p:cNvPr id="18" name="A"/>
          <p:cNvSpPr txBox="1"/>
          <p:nvPr/>
        </p:nvSpPr>
        <p:spPr>
          <a:xfrm>
            <a:off x="1851838" y="1311451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111833"/>
          </a:solidFill>
          <a:ln w="15875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10  FEEDBACK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TECHNICAL ARCHITECTURE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as a real AI application.</a:t>
            </a:r>
            <a:endParaRPr lang="en-US" sz="2800" dirty="0"/>
          </a:p>
        </p:txBody>
      </p:sp>
      <p:sp>
        <p:nvSpPr>
          <p:cNvPr id="7" name="A"/>
          <p:cNvSpPr txBox="1"/>
          <p:nvPr/>
        </p:nvSpPr>
        <p:spPr>
          <a:xfrm>
            <a:off x="457200" y="1280160"/>
            <a:ext cx="2743200" cy="1737360"/>
          </a:xfrm>
          <a:prstGeom prst="roundRect">
            <a:avLst>
              <a:gd name="adj" fmla="val 5263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2D3EE"/>
                </a:solidFill>
              </a:rPr>
              <a:t>USER EXPERIENCE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Next.js · React · TypeScript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Pyodide (Python in browser)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Web Speech API · getUserMedia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Local progress / app state</a:t>
            </a:r>
            <a:endParaRPr lang="en-US" sz="1100" dirty="0"/>
          </a:p>
        </p:txBody>
      </p:sp>
      <p:sp>
        <p:nvSpPr>
          <p:cNvPr id="8" name="A"/>
          <p:cNvSpPr/>
          <p:nvPr/>
        </p:nvSpPr>
        <p:spPr>
          <a:xfrm>
            <a:off x="3246120" y="2148840"/>
            <a:ext cx="365760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9" name="A"/>
          <p:cNvSpPr txBox="1"/>
          <p:nvPr/>
        </p:nvSpPr>
        <p:spPr>
          <a:xfrm>
            <a:off x="3657600" y="128016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111833"/>
          </a:solidFill>
          <a:ln w="19050">
            <a:solidFill>
              <a:srgbClr val="A78BFA"/>
            </a:solidFill>
          </a:ln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D3EE"/>
                </a:solidFill>
              </a:rPr>
              <a:t>SERVER ROUTES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/api/ai/*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AA5C8"/>
                </a:solidFill>
              </a:rPr>
              <a:t>API keys stay server-side</a:t>
            </a:r>
            <a:endParaRPr lang="en-US" sz="1100" dirty="0"/>
          </a:p>
        </p:txBody>
      </p:sp>
      <p:sp>
        <p:nvSpPr>
          <p:cNvPr id="10" name="A"/>
          <p:cNvSpPr/>
          <p:nvPr/>
        </p:nvSpPr>
        <p:spPr>
          <a:xfrm>
            <a:off x="5715000" y="2148840"/>
            <a:ext cx="365760" cy="0"/>
          </a:xfrm>
          <a:prstGeom prst="line">
            <a:avLst/>
          </a:prstGeom>
          <a:noFill/>
          <a:ln w="22225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1" name="A"/>
          <p:cNvSpPr txBox="1"/>
          <p:nvPr/>
        </p:nvSpPr>
        <p:spPr>
          <a:xfrm>
            <a:off x="6126480" y="1280160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11833"/>
          </a:solidFill>
          <a:ln w="15875">
            <a:solidFill>
              <a:srgbClr val="6366F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· Groq</a:t>
            </a:r>
            <a:r>
              <a:rPr lang="en-US" sz="1100" dirty="0">
                <a:solidFill>
                  <a:srgbClr val="9AA5C8"/>
                </a:solidFill>
              </a:rPr>
              <a:t>   7-key pool · primary</a:t>
            </a:r>
            <a:endParaRPr lang="en-US" sz="1400" dirty="0"/>
          </a:p>
        </p:txBody>
      </p:sp>
      <p:sp>
        <p:nvSpPr>
          <p:cNvPr id="12" name="A"/>
          <p:cNvSpPr txBox="1"/>
          <p:nvPr/>
        </p:nvSpPr>
        <p:spPr>
          <a:xfrm>
            <a:off x="6126480" y="1892808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11833"/>
          </a:solidFill>
          <a:ln w="15875">
            <a:solidFill>
              <a:srgbClr val="6366F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· OpenRouter</a:t>
            </a:r>
            <a:r>
              <a:rPr lang="en-US" sz="1100" dirty="0">
                <a:solidFill>
                  <a:srgbClr val="9AA5C8"/>
                </a:solidFill>
              </a:rPr>
              <a:t>   3-key pool</a:t>
            </a:r>
            <a:endParaRPr lang="en-US" sz="1400" dirty="0"/>
          </a:p>
        </p:txBody>
      </p:sp>
      <p:sp>
        <p:nvSpPr>
          <p:cNvPr id="13" name="A"/>
          <p:cNvSpPr txBox="1"/>
          <p:nvPr/>
        </p:nvSpPr>
        <p:spPr>
          <a:xfrm>
            <a:off x="6126480" y="2505456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111833"/>
          </a:solidFill>
          <a:ln w="15875">
            <a:solidFill>
              <a:srgbClr val="6366F1"/>
            </a:solidFill>
          </a:ln>
        </p:spPr>
        <p:txBody>
          <a:bodyPr wrap="square" lIns="127000" tIns="127000" rIns="127000" bIns="1270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· Google Gemini</a:t>
            </a:r>
            <a:r>
              <a:rPr lang="en-US" sz="1100" dirty="0">
                <a:solidFill>
                  <a:srgbClr val="9AA5C8"/>
                </a:solidFill>
              </a:rPr>
              <a:t>   fallback model</a:t>
            </a:r>
            <a:endParaRPr lang="en-US" sz="1400" dirty="0"/>
          </a:p>
        </p:txBody>
      </p:sp>
      <p:sp>
        <p:nvSpPr>
          <p:cNvPr id="14" name="A"/>
          <p:cNvSpPr txBox="1"/>
          <p:nvPr/>
        </p:nvSpPr>
        <p:spPr>
          <a:xfrm>
            <a:off x="45720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</a:rPr>
              <a:t>AI FAILOVER</a:t>
            </a:r>
            <a:endParaRPr lang="en-US" sz="1100" dirty="0"/>
          </a:p>
        </p:txBody>
      </p:sp>
      <p:sp>
        <p:nvSpPr>
          <p:cNvPr id="15" name="A"/>
          <p:cNvSpPr txBox="1"/>
          <p:nvPr/>
        </p:nvSpPr>
        <p:spPr>
          <a:xfrm>
            <a:off x="457200" y="36576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AI</a:t>
            </a:r>
            <a:endParaRPr lang="en-US" sz="1200" dirty="0"/>
          </a:p>
        </p:txBody>
      </p:sp>
      <p:sp>
        <p:nvSpPr>
          <p:cNvPr id="16" name="A"/>
          <p:cNvSpPr/>
          <p:nvPr/>
        </p:nvSpPr>
        <p:spPr>
          <a:xfrm>
            <a:off x="1938528" y="397764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7" name="A"/>
          <p:cNvSpPr txBox="1"/>
          <p:nvPr/>
        </p:nvSpPr>
        <p:spPr>
          <a:xfrm>
            <a:off x="2148840" y="36576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Error classification</a:t>
            </a:r>
            <a:endParaRPr lang="en-US" sz="1200" dirty="0"/>
          </a:p>
        </p:txBody>
      </p:sp>
      <p:sp>
        <p:nvSpPr>
          <p:cNvPr id="18" name="A"/>
          <p:cNvSpPr/>
          <p:nvPr/>
        </p:nvSpPr>
        <p:spPr>
          <a:xfrm>
            <a:off x="3630168" y="397764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19" name="A"/>
          <p:cNvSpPr txBox="1"/>
          <p:nvPr/>
        </p:nvSpPr>
        <p:spPr>
          <a:xfrm>
            <a:off x="3840480" y="36576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/ model cooldown</a:t>
            </a:r>
            <a:endParaRPr lang="en-US" sz="1200" dirty="0"/>
          </a:p>
        </p:txBody>
      </p:sp>
      <p:sp>
        <p:nvSpPr>
          <p:cNvPr id="20" name="A"/>
          <p:cNvSpPr/>
          <p:nvPr/>
        </p:nvSpPr>
        <p:spPr>
          <a:xfrm>
            <a:off x="5321808" y="397764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21" name="A"/>
          <p:cNvSpPr txBox="1"/>
          <p:nvPr/>
        </p:nvSpPr>
        <p:spPr>
          <a:xfrm>
            <a:off x="5532120" y="36576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833"/>
          </a:solidFill>
          <a:ln w="1905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Fallback provider</a:t>
            </a:r>
            <a:endParaRPr lang="en-US" sz="1200" dirty="0"/>
          </a:p>
        </p:txBody>
      </p:sp>
      <p:sp>
        <p:nvSpPr>
          <p:cNvPr id="22" name="A"/>
          <p:cNvSpPr/>
          <p:nvPr/>
        </p:nvSpPr>
        <p:spPr>
          <a:xfrm>
            <a:off x="7013448" y="3977640"/>
            <a:ext cx="182880" cy="0"/>
          </a:xfrm>
          <a:prstGeom prst="line">
            <a:avLst/>
          </a:prstGeom>
          <a:noFill/>
          <a:ln w="22225">
            <a:solidFill>
              <a:srgbClr val="9AA5C8"/>
            </a:solidFill>
            <a:prstDash val="solid"/>
            <a:tailEnd type="triangle"/>
          </a:ln>
        </p:spPr>
      </p:sp>
      <p:sp>
        <p:nvSpPr>
          <p:cNvPr id="23" name="A"/>
          <p:cNvSpPr txBox="1"/>
          <p:nvPr/>
        </p:nvSpPr>
        <p:spPr>
          <a:xfrm>
            <a:off x="7223760" y="36576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833"/>
          </a:solidFill>
          <a:ln w="1905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Continue request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ransition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1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18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19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D3EE"/>
                </a:solidFill>
              </a:rPr>
              <a:t>ENGINEERING PROOF</a:t>
            </a:r>
            <a:endParaRPr lang="en-US" sz="1100" dirty="0"/>
          </a:p>
        </p:txBody>
      </p:sp>
      <p:sp>
        <p:nvSpPr>
          <p:cNvPr id="6" name="A"/>
          <p:cNvSpPr txBox="1"/>
          <p:nvPr/>
        </p:nvSpPr>
        <p:spPr>
          <a:xfrm>
            <a:off x="457200" y="530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Built. Tested. Deployed.</a:t>
            </a:r>
            <a:endParaRPr lang="en-US" sz="2800" dirty="0"/>
          </a:p>
        </p:txBody>
      </p:sp>
      <p:sp>
        <p:nvSpPr>
          <p:cNvPr id="7" name="A"/>
          <p:cNvSpPr txBox="1"/>
          <p:nvPr/>
        </p:nvSpPr>
        <p:spPr>
          <a:xfrm>
            <a:off x="457200" y="14630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8BFA"/>
                </a:solidFill>
              </a:rPr>
              <a:t>0</a:t>
            </a:r>
            <a:endParaRPr lang="en-US" sz="5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A5C8"/>
                </a:solidFill>
              </a:rPr>
              <a:t>TypeScript errors</a:t>
            </a:r>
            <a:endParaRPr lang="en-US" sz="5000" dirty="0"/>
          </a:p>
        </p:txBody>
      </p:sp>
      <p:sp>
        <p:nvSpPr>
          <p:cNvPr id="8" name="A"/>
          <p:cNvSpPr txBox="1"/>
          <p:nvPr/>
        </p:nvSpPr>
        <p:spPr>
          <a:xfrm>
            <a:off x="2560320" y="14630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8BFA"/>
                </a:solidFill>
              </a:rPr>
              <a:t>0</a:t>
            </a:r>
            <a:endParaRPr lang="en-US" sz="5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A5C8"/>
                </a:solidFill>
              </a:rPr>
              <a:t>ESLint errors</a:t>
            </a:r>
            <a:endParaRPr lang="en-US" sz="5000" dirty="0"/>
          </a:p>
        </p:txBody>
      </p:sp>
      <p:sp>
        <p:nvSpPr>
          <p:cNvPr id="9" name="A"/>
          <p:cNvSpPr txBox="1"/>
          <p:nvPr/>
        </p:nvSpPr>
        <p:spPr>
          <a:xfrm>
            <a:off x="4663440" y="14630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A78BFA"/>
                </a:solidFill>
              </a:rPr>
              <a:t>14/14</a:t>
            </a:r>
            <a:endParaRPr lang="en-US" sz="5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A5C8"/>
                </a:solidFill>
              </a:rPr>
              <a:t>Playwright E2E tests</a:t>
            </a:r>
            <a:endParaRPr lang="en-US" sz="5000" dirty="0"/>
          </a:p>
        </p:txBody>
      </p:sp>
      <p:sp>
        <p:nvSpPr>
          <p:cNvPr id="10" name="A"/>
          <p:cNvSpPr txBox="1"/>
          <p:nvPr/>
        </p:nvSpPr>
        <p:spPr>
          <a:xfrm>
            <a:off x="6766560" y="14630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111833"/>
          </a:solidFill>
          <a:ln w="12700">
            <a:solidFill>
              <a:srgbClr val="2A346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2D3EE"/>
                </a:solidFill>
              </a:rPr>
              <a:t>✓</a:t>
            </a:r>
            <a:endParaRPr lang="en-US" sz="5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9AA5C8"/>
                </a:solidFill>
              </a:rPr>
              <a:t>Production build</a:t>
            </a:r>
            <a:endParaRPr lang="en-US" sz="5000" dirty="0"/>
          </a:p>
        </p:txBody>
      </p:sp>
      <p:sp>
        <p:nvSpPr>
          <p:cNvPr id="11" name="A"/>
          <p:cNvSpPr txBox="1"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Next.js · React · TypeScript · Tailwind · Pyodide · Web Speech API · Playwright · Vercel</a:t>
            </a:r>
            <a:endParaRPr lang="en-US" sz="1400" dirty="0"/>
          </a:p>
        </p:txBody>
      </p:sp>
      <p:sp>
        <p:nvSpPr>
          <p:cNvPr id="12" name="A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5C8"/>
                </a:solidFill>
              </a:rPr>
              <a:t>Real numbers only — no invented users or benchmarks.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6366F1">
              <a:alpha val="1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926080"/>
            <a:ext cx="3657600" cy="36576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46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AA5C8"/>
                </a:solidFill>
              </a:rPr>
              <a:t>AI-PATH</a:t>
            </a:r>
            <a:endParaRPr lang="en-US" sz="900" dirty="0"/>
          </a:p>
        </p:txBody>
      </p:sp>
      <p:sp>
        <p:nvSpPr>
          <p:cNvPr id="5" name="A"/>
          <p:cNvSpPr txBox="1"/>
          <p:nvPr/>
        </p:nvSpPr>
        <p:spPr>
          <a:xfrm>
            <a:off x="457200" y="64008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STOP SEARCHING FOR WHAT TO LEARN NEXT.</a:t>
            </a:r>
            <a:endParaRPr lang="en-US" sz="2800" dirty="0"/>
          </a:p>
        </p:txBody>
      </p:sp>
      <p:sp>
        <p:nvSpPr>
          <p:cNvPr id="6" name="A"/>
          <p:cNvSpPr txBox="1"/>
          <p:nvPr/>
        </p:nvSpPr>
        <p:spPr>
          <a:xfrm>
            <a:off x="457200" y="21945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5C8"/>
                </a:solidFill>
              </a:rPr>
              <a:t>AI-PATH helps turn learning into an adaptive loop.</a:t>
            </a:r>
            <a:endParaRPr lang="en-US" sz="1400" dirty="0"/>
          </a:p>
        </p:txBody>
      </p:sp>
      <p:sp>
        <p:nvSpPr>
          <p:cNvPr id="7" name="A"/>
          <p:cNvSpPr txBox="1"/>
          <p:nvPr/>
        </p:nvSpPr>
        <p:spPr>
          <a:xfrm>
            <a:off x="45720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</a:rPr>
              <a:t>Learn → Practice → Prove → Adapt</a:t>
            </a:r>
            <a:endParaRPr lang="en-US" sz="1500" dirty="0"/>
          </a:p>
        </p:txBody>
      </p:sp>
      <p:sp>
        <p:nvSpPr>
          <p:cNvPr id="8" name="A"/>
          <p:cNvSpPr txBox="1"/>
          <p:nvPr/>
        </p:nvSpPr>
        <p:spPr>
          <a:xfrm>
            <a:off x="457200" y="329184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9AA5C8"/>
                </a:solidFill>
              </a:rPr>
              <a:t>LIVE DEMO  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ai-path-tutor.vercel.app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9AA5C8"/>
                </a:solidFill>
              </a:rPr>
              <a:t>SOURCE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u="sng" dirty="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github.com/MohammedShakib-645/ai-path</a:t>
            </a:r>
            <a:endParaRPr lang="en-US" sz="1000" dirty="0"/>
          </a:p>
        </p:txBody>
      </p:sp>
      <p:sp>
        <p:nvSpPr>
          <p:cNvPr id="9" name="A"/>
          <p:cNvSpPr/>
          <p:nvPr/>
        </p:nvSpPr>
        <p:spPr>
          <a:xfrm>
            <a:off x="4846320" y="914400"/>
            <a:ext cx="4023360" cy="2859899"/>
          </a:xfrm>
          <a:prstGeom prst="roundRect">
            <a:avLst>
              <a:gd name="adj" fmla="val 3197"/>
            </a:avLst>
          </a:prstGeom>
          <a:solidFill>
            <a:srgbClr val="111833"/>
          </a:solidFill>
          <a:ln w="15875">
            <a:solidFill>
              <a:srgbClr val="6366F1"/>
            </a:solidFill>
            <a:prstDash val="solid"/>
          </a:ln>
          <a:effectLst>
            <a:outerShdw blurRad="228600" dist="38100" dir="5400000" algn="bl" rotWithShape="0">
              <a:srgbClr val="6366F1">
                <a:alpha val="50000"/>
              </a:srgbClr>
            </a:outerShdw>
          </a:effectLst>
        </p:spPr>
      </p:sp>
      <p:sp>
        <p:nvSpPr>
          <p:cNvPr id="10" name="A"/>
          <p:cNvSpPr txBox="1"/>
          <p:nvPr/>
        </p:nvSpPr>
        <p:spPr>
          <a:xfrm>
            <a:off x="4974336" y="97840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5C8"/>
                </a:solidFill>
              </a:rPr>
              <a:t>● ● ●</a:t>
            </a:r>
            <a:endParaRPr lang="en-US" sz="700" dirty="0"/>
          </a:p>
        </p:txBody>
      </p:sp>
      <p:pic>
        <p:nvPicPr>
          <p:cNvPr id="11" name="A" descr="img/08-progres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188720"/>
            <a:ext cx="3877056" cy="25307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46320"/>
            <a:ext cx="36576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AA5C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1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528</Words>
  <Application>Microsoft Office PowerPoint</Application>
  <PresentationFormat>On-screen Show (16:9)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AI-PATH — Hackathon Pitch</dc:title>
  <dc:subject>PptxGenJS Presentation</dc:subject>
  <dc:creator>PptxGenJS</dc:creator>
  <cp:lastModifiedBy>mohammed shakib</cp:lastModifiedBy>
  <cp:revision>4</cp:revision>
  <dcterms:created xsi:type="dcterms:W3CDTF">2026-10-02T12:11:31Z</dcterms:created>
  <dcterms:modified xsi:type="dcterms:W3CDTF">2026-10-02T12:37:13Z</dcterms:modified>
</cp:coreProperties>
</file>